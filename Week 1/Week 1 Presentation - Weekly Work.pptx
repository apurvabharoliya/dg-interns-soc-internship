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FB4D9"/>
                </a:solidFill>
                <a:latin typeface="Calibri"/>
              </a:rPr>
              <a:t>DG INTERNS HUB  •  SOC ANALYST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49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Week 1 - The Basics:</a:t>
            </a:r>
          </a:p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3891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C5D3E6"/>
                </a:solidFill>
                <a:latin typeface="Calibri"/>
              </a:rPr>
              <a:t>Weekly Work Report and Presentation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FB0C5"/>
                </a:solidFill>
                <a:latin typeface="Calibri"/>
              </a:rPr>
              <a:t>6 theoretical notes  •  6 lab writeups  •  4 hands-on event captures  •  Windows lab on DESKTOP-QKP3UOG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943600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B4D9"/>
                </a:solidFill>
                <a:latin typeface="Calibri"/>
              </a:rPr>
              <a:t>07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Agenda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5D3E6"/>
                </a:solidFill>
                <a:latin typeface="Calibri"/>
              </a:rPr>
              <a:t>What this presentation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852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222B38"/>
                </a:solidFill>
                <a:latin typeface="Calibri"/>
              </a:rPr>
              <a:t>•  Part 1 - Theoretical notes (6 topics)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222B38"/>
                </a:solidFill>
                <a:latin typeface="Calibri"/>
              </a:rPr>
              <a:t>•  Part 2 - Lab writeups (6 labs)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222B38"/>
                </a:solidFill>
                <a:latin typeface="Calibri"/>
              </a:rPr>
              <a:t>•  Part 3 - Hands-on Windows Event Viewer lab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222B38"/>
                </a:solidFill>
                <a:latin typeface="Calibri"/>
              </a:rPr>
              <a:t>•  Part 4 - Findings, analysis and takeaways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222B38"/>
                </a:solidFill>
                <a:latin typeface="Calibri"/>
              </a:rPr>
              <a:t>•  Deliverables and LinkedIn 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463040"/>
            <a:ext cx="4754880" cy="420624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691640"/>
            <a:ext cx="42062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1A2B45"/>
                </a:solidFill>
                <a:latin typeface="Calibri"/>
              </a:rPr>
              <a:t>Week 1 at a glance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222B38"/>
                </a:solidFill>
                <a:latin typeface="Calibri"/>
              </a:rPr>
              <a:t>Notes:  6 documents / 19 pages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222B38"/>
                </a:solidFill>
                <a:latin typeface="Calibri"/>
              </a:rPr>
              <a:t>Writeups:  6 documents / 75 pages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222B38"/>
                </a:solidFill>
                <a:latin typeface="Calibri"/>
              </a:rPr>
              <a:t>Labs:  5 TryHackMe + 1 LetsDefend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222B38"/>
                </a:solidFill>
                <a:latin typeface="Calibri"/>
              </a:rPr>
              <a:t>Screenshots:  4 Event Viewer captures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222B38"/>
                </a:solidFill>
                <a:latin typeface="Calibri"/>
              </a:rPr>
              <a:t>Event IDs:  4624, 4625, 4688, 4720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Week 1 at a Glance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5D3E6"/>
                </a:solidFill>
                <a:latin typeface="Calibri"/>
              </a:rPr>
              <a:t>Theory, practice and hands-on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520440" cy="461772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3520440" cy="77724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5D3E6"/>
                </a:solidFill>
                <a:latin typeface="Calibri"/>
              </a:rPr>
              <a:t>PART 1</a:t>
            </a:r>
          </a:p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Theoretical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30632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What is a SOC?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Analyst levels L1/L2/L3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The CIA Triad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TCP/IP vs OSI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Phishing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Malware case study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3520440" cy="461772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3520440" cy="77724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36192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5D3E6"/>
                </a:solidFill>
                <a:latin typeface="Calibri"/>
              </a:rPr>
              <a:t>PART 2</a:t>
            </a:r>
          </a:p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Lab Writeups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77440"/>
            <a:ext cx="30632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TryHackMe x 5 rooms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LetsDefend x 1 course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Every task answered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OSI, TCP/IP, tools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Cyber Kill Chain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Windows Fundamentals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3520440" cy="461772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417320"/>
            <a:ext cx="3520440" cy="77724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536192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5D3E6"/>
                </a:solidFill>
                <a:latin typeface="Calibri"/>
              </a:rPr>
              <a:t>PART 3</a:t>
            </a:r>
          </a:p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Hands-On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377440"/>
            <a:ext cx="30632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VirtualBox lab built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Windows 10 + Linux VMs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Event Viewer on Windows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4624 / 4625 captured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4688 / 4720 captured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Timeline correlated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8FB4D9"/>
                </a:solidFill>
                <a:latin typeface="Calibri"/>
              </a:rPr>
              <a:t>PART 1</a:t>
            </a:r>
          </a:p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Theoretical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175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5D3E6"/>
                </a:solidFill>
                <a:latin typeface="Calibri"/>
              </a:rPr>
              <a:t>Six topics written up in my own words, using bullet points and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Theoretical Notes - Overview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5D3E6"/>
                </a:solidFill>
                <a:latin typeface="Calibri"/>
              </a:rPr>
              <a:t>One document per question, as required by the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832104" y="1627292"/>
            <a:ext cx="1307592" cy="1820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eview_Notes_01_What_is_a_SOC_doc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63868"/>
            <a:ext cx="1234440" cy="1747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40280" y="1691640"/>
            <a:ext cx="1691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F5D8A"/>
                </a:solidFill>
                <a:latin typeface="Calibri"/>
              </a:rPr>
              <a:t>NOTE 01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2B45"/>
                </a:solidFill>
                <a:latin typeface="Calibri"/>
              </a:rPr>
              <a:t>What is a SOC?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627292"/>
            <a:ext cx="1307592" cy="1820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_Notes_02_SOC_Analyst_Levels_L1_L2_L3_doc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63868"/>
            <a:ext cx="1234440" cy="1747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0" y="1691640"/>
            <a:ext cx="1691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F5D8A"/>
                </a:solidFill>
                <a:latin typeface="Calibri"/>
              </a:rPr>
              <a:t>NOTE 02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2B45"/>
                </a:solidFill>
                <a:latin typeface="Calibri"/>
              </a:rPr>
              <a:t>SOC Analyst Levels L1/L2/L3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21624" y="1627292"/>
            <a:ext cx="1307592" cy="1820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review_Notes_03_CIA_Triad_doc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663868"/>
            <a:ext cx="1234440" cy="17471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29800" y="1691640"/>
            <a:ext cx="1691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F5D8A"/>
                </a:solidFill>
                <a:latin typeface="Calibri"/>
              </a:rPr>
              <a:t>NOTE 03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2B45"/>
                </a:solidFill>
                <a:latin typeface="Calibri"/>
              </a:rPr>
              <a:t>The CIA Triad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" y="4141892"/>
            <a:ext cx="1307592" cy="1820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review_Notes_04_TCP_IP_vs_OSI_Model_doc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178468"/>
            <a:ext cx="1234440" cy="1747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40280" y="4206240"/>
            <a:ext cx="1691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F5D8A"/>
                </a:solidFill>
                <a:latin typeface="Calibri"/>
              </a:rPr>
              <a:t>NOTE 04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2B45"/>
                </a:solidFill>
                <a:latin typeface="Calibri"/>
              </a:rPr>
              <a:t>TCP/IP vs OSI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26864" y="4141892"/>
            <a:ext cx="1307592" cy="1820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review_Notes_05_Phishing_doc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4178468"/>
            <a:ext cx="1234440" cy="17471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35040" y="4206240"/>
            <a:ext cx="1691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F5D8A"/>
                </a:solidFill>
                <a:latin typeface="Calibri"/>
              </a:rPr>
              <a:t>NOTE 05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2B45"/>
                </a:solidFill>
                <a:latin typeface="Calibri"/>
              </a:rPr>
              <a:t>Phishing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21624" y="4141892"/>
            <a:ext cx="1307592" cy="1820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review_Notes_06_Malware_Case_Study_doc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4178468"/>
            <a:ext cx="1234440" cy="17471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829800" y="4206240"/>
            <a:ext cx="1691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F5D8A"/>
                </a:solidFill>
                <a:latin typeface="Calibri"/>
              </a:rPr>
              <a:t>NOTE 06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2B45"/>
                </a:solidFill>
                <a:latin typeface="Calibri"/>
              </a:rPr>
              <a:t>Malware Case Study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is a SOC?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5D3E6"/>
                </a:solidFill>
                <a:latin typeface="Calibri"/>
              </a:rPr>
              <a:t>Note 01 - the Security Operations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0350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222B38"/>
                </a:solidFill>
                <a:latin typeface="Calibri"/>
              </a:rPr>
              <a:t>A centralized security function that monitors, detects, investigates and responds to cyber threats across systems, networks, applications, endpoints and data.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A2B45"/>
                </a:solidFill>
                <a:latin typeface="Calibri"/>
              </a:rPr>
              <a:t>Main objectives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Detect suspicious activity and monitor alerts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Investigate potential incidents and confirm compromise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Respond to incidents and reduce attack impact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Collect and analyse security logs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Escalate serious incidents and improve controls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417320"/>
            <a:ext cx="4480560" cy="438912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645920"/>
            <a:ext cx="39319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1A2B45"/>
                </a:solidFill>
                <a:latin typeface="Calibri"/>
              </a:rPr>
              <a:t>SOC workflow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222B38"/>
                </a:solidFill>
                <a:latin typeface="Calibri"/>
              </a:rPr>
              <a:t>•  Security events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222B38"/>
                </a:solidFill>
                <a:latin typeface="Calibri"/>
              </a:rPr>
              <a:t>•  Logs / telemetry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222B38"/>
                </a:solidFill>
                <a:latin typeface="Calibri"/>
              </a:rPr>
              <a:t>•  SIEM / security tools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222B38"/>
                </a:solidFill>
                <a:latin typeface="Calibri"/>
              </a:rPr>
              <a:t>•  Alert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222B38"/>
                </a:solidFill>
                <a:latin typeface="Calibri"/>
              </a:rPr>
              <a:t>•  L1 analyst triage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222B38"/>
                </a:solidFill>
                <a:latin typeface="Calibri"/>
              </a:rPr>
              <a:t>•  Investigation (L2 / L3)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222B38"/>
                </a:solidFill>
                <a:latin typeface="Calibri"/>
              </a:rPr>
              <a:t>•  Containment and remediation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222B38"/>
                </a:solidFill>
                <a:latin typeface="Calibri"/>
              </a:rPr>
              <a:t>•  Closure and lessons learned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SOC Technology Stack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5D3E6"/>
                </a:solidFill>
                <a:latin typeface="Calibri"/>
              </a:rPr>
              <a:t>Note 01 - tools and what a SOC monitors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486400"/>
                <a:gridCol w="338328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SIEM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Collects and correlates logs from many sources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Splunk, Sentinel, Elastic, QRadar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EDR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Monitors endpoint activity and suspicious processes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Endpoint agents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SOAR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Automates repetitive tasks and response workflows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Playbooks and automation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Threat Intel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Provides known-bad IPs, domains, hashes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Feeds and enrichment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977639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A2B45"/>
                </a:solidFill>
                <a:latin typeface="Calibri"/>
              </a:rPr>
              <a:t>What a SOC monitors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Endpoints  •  Network (firewalls, routers, IDS/IPS)  •  Applications and APIs  •  Identity and authentication  •  Cloud  •  Email  •  Servers  •  Security tools  •  Threat intelligence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SOC Analyst Levels: L1, L2 and L3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5D3E6"/>
                </a:solidFill>
                <a:latin typeface="Calibri"/>
              </a:rPr>
              <a:t>Note 02 - how SOC work is tiered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59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59"/>
                <a:gridCol w="2377440"/>
                <a:gridCol w="722376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Main role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Core responsibilities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Alert triage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Monitor alerts and SIEM dashboards, initial triage, check IPs, domains, users, gather evidence, categorise, escalate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L2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Investigation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Investigate escalated alerts, correlate logs, analyse endpoint and network activity, scope impact, recommend containment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Advanced analysis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Threat hunting, complex incident response, malware analysis, detection engineering, advanced forensics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4114800"/>
            <a:ext cx="10881360" cy="173736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A2B45"/>
                </a:solidFill>
                <a:latin typeface="Calibri"/>
              </a:rPr>
              <a:t>The tiers work as a chain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B38"/>
                </a:solidFill>
                <a:latin typeface="Calibri"/>
              </a:rPr>
              <a:t>L1 triage  →  L2 investigation  →  L3 / specialist advanced analysis and response</a:t>
            </a:r>
          </a:p>
          <a:p>
            <a:pPr algn="l">
              <a:spcAft>
                <a:spcPts val="800"/>
              </a:spcAft>
            </a:pPr>
            <a:r>
              <a:rPr sz="1250" b="0" i="1">
                <a:solidFill>
                  <a:srgbClr val="222B38"/>
                </a:solidFill>
                <a:latin typeface="Calibri"/>
              </a:rPr>
              <a:t>L1 analysts triage alerts and pass complex cases up; L2 investigate more advanced attacks; L3 and specialists handle the deepest security functions.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CIA Triad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5D3E6"/>
                </a:solidFill>
                <a:latin typeface="Calibri"/>
              </a:rPr>
              <a:t>Note 03 - the three pillars of information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58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9221"/>
                <a:gridCol w="3133831"/>
                <a:gridCol w="3133831"/>
                <a:gridCol w="2524475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Principle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Example control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Example attack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Confidentiality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Prevent unauthorized access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Encryption, MFA, permissions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Stolen customer database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Integrity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Prevent unauthorized modification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Hashes, signatures, FIM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Tampered salary record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Availability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Keep services accessible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Backups, redundancy, DDoS protection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DDoS attack on a web server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977639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A2B45"/>
                </a:solidFill>
                <a:latin typeface="Calibri"/>
              </a:rPr>
              <a:t>Applied to real life: online banking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Confidentiality - only the account owner sees account information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Integrity - a user cannot alter their balance without authorization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Availability - the banking app stays reachable when customers need 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TCP/IP Model vs OSI Model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5D3E6"/>
                </a:solidFill>
                <a:latin typeface="Calibri"/>
              </a:rPr>
              <a:t>Note 04 - how computers talk to each 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51206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OSI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TCP/IP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7 layers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4 layers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Conceptual / reference model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Practical networking model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Developed by ISO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Developed around DoD / Internet protocols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Used for learning and troubleshooting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Widely used in real networking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172200" y="1463040"/>
            <a:ext cx="5349240" cy="320040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91640"/>
            <a:ext cx="4800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A2B45"/>
                </a:solidFill>
                <a:latin typeface="Calibri"/>
              </a:rPr>
              <a:t>Layer mapping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222B38"/>
                </a:solidFill>
                <a:latin typeface="Calibri"/>
              </a:rPr>
              <a:t>•  Application + Presentation + Session  →  Application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222B38"/>
                </a:solidFill>
                <a:latin typeface="Calibri"/>
              </a:rPr>
              <a:t>•  Transport  →  Transport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222B38"/>
                </a:solidFill>
                <a:latin typeface="Calibri"/>
              </a:rPr>
              <a:t>•  Network  →  Internet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222B38"/>
                </a:solidFill>
                <a:latin typeface="Calibri"/>
              </a:rPr>
              <a:t>•  Data Link + Physical  →  Network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OSI layers 7 to 1: Application, Presentation, Session, Transport, Network, Data Link, Physical. TCP is connection-oriented and reliable; UDP is connectionless with lower overhead.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Phishing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5D3E6"/>
                </a:solidFill>
                <a:latin typeface="Calibri"/>
              </a:rPr>
              <a:t>Note 05 - social engineering and the analyst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3949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A2B45"/>
                </a:solidFill>
                <a:latin typeface="Calibri"/>
              </a:rPr>
              <a:t>Six warning signs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1. Suspicious sender address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2. Urgency (account will be deleted today)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3. Link text does not match destination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4. Unexpected attachment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5. Credential / OTP request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6. Unusual language or formatting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17320"/>
            <a:ext cx="5212080" cy="457200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6634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A2B45"/>
                </a:solidFill>
                <a:latin typeface="Calibri"/>
              </a:rPr>
              <a:t>How a user should respond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Never click suspicious links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Verify the sender independently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Navigate to the official site manually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Contact IT through a trusted channel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Report the message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Never share passwords or OTPs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solidFill>
            <a:srgbClr val="FFF6E5"/>
          </a:solidFill>
          <a:ln w="12700">
            <a:solidFill>
              <a:srgbClr val="E8D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126480"/>
            <a:ext cx="10607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B3F00"/>
                </a:solidFill>
                <a:latin typeface="Calibri"/>
              </a:rPr>
              <a:t>A safe fictional training email was written for the Phishing note - clearly marked as a simulation with no real credentials.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Malware Case Study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5D3E6"/>
                </a:solidFill>
                <a:latin typeface="Calibri"/>
              </a:rPr>
              <a:t>Note 06 - a fictional scenario from infection to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A2B45"/>
                </a:solidFill>
                <a:latin typeface="Calibri"/>
              </a:rPr>
              <a:t>Attack chain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Phishing email → malicious attachment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User opens the file → malware executes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Persistence established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Command and control communication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Credential theft → lateral movement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Data theft or encryption (ransomware)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417320"/>
            <a:ext cx="4937760" cy="457200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645920"/>
            <a:ext cx="43891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A2B45"/>
                </a:solidFill>
                <a:latin typeface="Calibri"/>
              </a:rPr>
              <a:t>Response lifecycle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Detect → Triage → Investigate → Confirm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Contain → Eradicate → Recover → Document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Detection sources: email logs, EDR process chains, DNS logs, firewall/proxy logs, authentication logs, SIEM correlation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8FB4D9"/>
                </a:solidFill>
                <a:latin typeface="Calibri"/>
              </a:rPr>
              <a:t>PART 2</a:t>
            </a:r>
          </a:p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Lab Writeups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175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5D3E6"/>
                </a:solidFill>
                <a:latin typeface="Calibri"/>
              </a:rPr>
              <a:t>Five TryHackMe rooms and the LetsDefend SOC Fundamentals course, fully documented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Lab Writeups - Overview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5D3E6"/>
                </a:solidFill>
                <a:latin typeface="Calibri"/>
              </a:rPr>
              <a:t>One writeup per lab, with every task, question and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832104" y="1628339"/>
            <a:ext cx="1307592" cy="1818241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eview_Writeups_LetsDefend-SOC-Fundamentals-Walkthrou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64915"/>
            <a:ext cx="1234440" cy="17450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40280" y="1783080"/>
            <a:ext cx="1691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F5D8A"/>
                </a:solidFill>
                <a:latin typeface="Calibri"/>
              </a:rPr>
              <a:t>LetsDefend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A2B45"/>
                </a:solidFill>
                <a:latin typeface="Calibri"/>
              </a:rPr>
              <a:t>SOC Fundamentals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628339"/>
            <a:ext cx="1307592" cy="1818241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_Writeups_TryHackMe-Cyber-Kill-Chain-Walkthrou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64915"/>
            <a:ext cx="1234440" cy="174508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0" y="1783080"/>
            <a:ext cx="1691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F5D8A"/>
                </a:solidFill>
                <a:latin typeface="Calibri"/>
              </a:rPr>
              <a:t>TryHackMe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A2B45"/>
                </a:solidFill>
                <a:latin typeface="Calibri"/>
              </a:rPr>
              <a:t>Cyber Kill Chain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21624" y="1628339"/>
            <a:ext cx="1307592" cy="1818241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review_Writeups_TryHackMe-Introductory-Networking-Walkthroug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664915"/>
            <a:ext cx="1234440" cy="174508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29800" y="1783080"/>
            <a:ext cx="1691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F5D8A"/>
                </a:solidFill>
                <a:latin typeface="Calibri"/>
              </a:rPr>
              <a:t>TryHackMe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A2B45"/>
                </a:solidFill>
                <a:latin typeface="Calibri"/>
              </a:rPr>
              <a:t>Introductory Networking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" y="4142939"/>
            <a:ext cx="1307592" cy="1818241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review_Writeups_TryHackMe-SOC-Role-In-Blue-Team-Walkthroug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179515"/>
            <a:ext cx="1234440" cy="17450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40280" y="4297680"/>
            <a:ext cx="1691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F5D8A"/>
                </a:solidFill>
                <a:latin typeface="Calibri"/>
              </a:rPr>
              <a:t>TryHackMe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A2B45"/>
                </a:solidFill>
                <a:latin typeface="Calibri"/>
              </a:rPr>
              <a:t>SOC Role in Blue Team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26864" y="4142939"/>
            <a:ext cx="1307592" cy="1818241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review_Writeups_TryHackMe-Windows-Fundamentals-1-Walkthroug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4179515"/>
            <a:ext cx="1234440" cy="174508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35040" y="4297680"/>
            <a:ext cx="1691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F5D8A"/>
                </a:solidFill>
                <a:latin typeface="Calibri"/>
              </a:rPr>
              <a:t>TryHackMe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A2B45"/>
                </a:solidFill>
                <a:latin typeface="Calibri"/>
              </a:rPr>
              <a:t>Windows Fundamentals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21624" y="4142939"/>
            <a:ext cx="1307592" cy="1818241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review_Writeups_Tryhackme_Walkthrogh_What_is_network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4179515"/>
            <a:ext cx="1234440" cy="174508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829800" y="4297680"/>
            <a:ext cx="1691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F5D8A"/>
                </a:solidFill>
                <a:latin typeface="Calibri"/>
              </a:rPr>
              <a:t>TryHackMe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A2B45"/>
                </a:solidFill>
                <a:latin typeface="Calibri"/>
              </a:rPr>
              <a:t>What is Networking?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Labs Completed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5D3E6"/>
                </a:solidFill>
                <a:latin typeface="Calibri"/>
              </a:rPr>
              <a:t>Five TryHackMe rooms plus one LetsDefend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59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6780"/>
                <a:gridCol w="2089221"/>
                <a:gridCol w="1392814"/>
                <a:gridCol w="4352544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Lab / Course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Length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SOC Fundamentals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LetsDefend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14 pages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SOC Analyst Learning Path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Cyber Kill Chain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TryHackMe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13 pages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SOC Level 1 - Cyber Defence Frameworks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Introductory Networking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TryHackMe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17 pages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Network Fundamentals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SOC Role in the Blue Team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TryHackMe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9 pages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SOC Level 1 - Blue Team Intro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Windows Fundamentals 1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TryHackMe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13 pages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Cyber Security 101 - Windows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What is Networking?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TryHackMe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9 pages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Pre-Security - Network Fundamentals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1206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A2B45"/>
                </a:solidFill>
                <a:latin typeface="Calibri"/>
              </a:rPr>
              <a:t>Total: 75 pages of walkthroughs - every task, question, explanation and answer recorded.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LetsDefend - SOC Fundamentals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5D3E6"/>
                </a:solidFill>
                <a:latin typeface="Calibri"/>
              </a:rPr>
              <a:t>Free badge course | SOC Analyst Learning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3035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A2B45"/>
                </a:solidFill>
                <a:latin typeface="Calibri"/>
              </a:rPr>
              <a:t>Topics covered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Introduction to SOC and the three pillars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SOC types and roles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SOC analyst responsibilities and skills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SIEM and the analyst relationship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5303520" cy="457200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7548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Log management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EDR - endpoint detection and response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SOAR - orchestration, automation and response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Threat intelligence feeds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Common mistakes made by SOC analysts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Self-assessment quiz plus full answer key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TryHackMe - Cyber Kill Chain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5D3E6"/>
                </a:solidFill>
                <a:latin typeface="Calibri"/>
              </a:rPr>
              <a:t>The seven phases of an intrusion, 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606040" cy="146304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457200" cy="146304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64208"/>
            <a:ext cx="187451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2B45"/>
                </a:solidFill>
                <a:latin typeface="Calibri"/>
              </a:rPr>
              <a:t>Reconnaissance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B38"/>
                </a:solidFill>
                <a:latin typeface="Calibri"/>
              </a:rPr>
              <a:t>OSINT and targeting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463040"/>
            <a:ext cx="2606040" cy="146304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463040"/>
            <a:ext cx="457200" cy="146304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9659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40" y="1664208"/>
            <a:ext cx="187451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2B45"/>
                </a:solidFill>
                <a:latin typeface="Calibri"/>
              </a:rPr>
              <a:t>Weaponisation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B38"/>
                </a:solidFill>
                <a:latin typeface="Calibri"/>
              </a:rPr>
              <a:t>Building the payload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2606040" cy="146304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457200" cy="146304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9659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664208"/>
            <a:ext cx="187451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2B45"/>
                </a:solidFill>
                <a:latin typeface="Calibri"/>
              </a:rPr>
              <a:t>Delivery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B38"/>
                </a:solidFill>
                <a:latin typeface="Calibri"/>
              </a:rPr>
              <a:t>Getting it to the victim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463040"/>
            <a:ext cx="2606040" cy="146304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1463040"/>
            <a:ext cx="457200" cy="146304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9659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1664208"/>
            <a:ext cx="187451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2B45"/>
                </a:solidFill>
                <a:latin typeface="Calibri"/>
              </a:rPr>
              <a:t>Exploitation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B38"/>
                </a:solidFill>
                <a:latin typeface="Calibri"/>
              </a:rPr>
              <a:t>Triggering the vulnerability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154680"/>
            <a:ext cx="2606040" cy="146304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154680"/>
            <a:ext cx="457200" cy="146304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355848"/>
            <a:ext cx="187451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2B45"/>
                </a:solidFill>
                <a:latin typeface="Calibri"/>
              </a:rPr>
              <a:t>Installation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B38"/>
                </a:solidFill>
                <a:latin typeface="Calibri"/>
              </a:rPr>
              <a:t>Persistence and web shells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3154680"/>
            <a:ext cx="2606040" cy="146304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83280" y="3154680"/>
            <a:ext cx="457200" cy="146304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36576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40" y="3355848"/>
            <a:ext cx="187451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2B45"/>
                </a:solidFill>
                <a:latin typeface="Calibri"/>
              </a:rPr>
              <a:t>Command &amp; Control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B38"/>
                </a:solidFill>
                <a:latin typeface="Calibri"/>
              </a:rPr>
              <a:t>Covert channels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154680"/>
            <a:ext cx="2606040" cy="146304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154680"/>
            <a:ext cx="457200" cy="146304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36576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355848"/>
            <a:ext cx="187451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2B45"/>
                </a:solidFill>
                <a:latin typeface="Calibri"/>
              </a:rPr>
              <a:t>Actions on Objectives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B38"/>
                </a:solidFill>
                <a:latin typeface="Calibri"/>
              </a:rPr>
              <a:t>The attacker's goal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222B38"/>
                </a:solidFill>
                <a:latin typeface="Calibri"/>
              </a:rPr>
              <a:t>Also completed: mapping the 2013 Target breach onto the kill chain and reviewing the model's limitations. Vocabulary covered included OSINT, obfuscation, malvertising, zero-day, web shell and DNS tunnelling.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Networking Rooms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5D3E6"/>
                </a:solidFill>
                <a:latin typeface="Calibri"/>
              </a:rPr>
              <a:t>Introductory Networking (17 pages) and What is Networking? (9 pages)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3949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A2B45"/>
                </a:solidFill>
                <a:latin typeface="Calibri"/>
              </a:rPr>
              <a:t>Concepts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The OSI model in seven layers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Encapsulation and de-encapsulation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The four-layer TCP/IP model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TCP and the three-way handshake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IP addresses: IPv4 vs IPv6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MAC addresses and MAC spoofing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17320"/>
            <a:ext cx="5212080" cy="457200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6634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1A2B45"/>
                </a:solidFill>
                <a:latin typeface="Calibri"/>
              </a:rPr>
              <a:t>Hands-on tools</a:t>
            </a:r>
            <a:r>
              <a:rPr sz="1300" b="0" i="0">
                <a:solidFill>
                  <a:srgbClr val="222B38"/>
                </a:solidFill>
                <a:latin typeface="Calibri"/>
              </a:rPr>
              <a:t>•  ping - test connectivity over ICMP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traceroute - trace the path to a host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whois - look up domain registration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dig - query DNS records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Networks and how the Internet is built from smaller networks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Windows Fundamentals 1  &amp;  SOC Role in the Blue Team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5D3E6"/>
                </a:solidFill>
                <a:latin typeface="Calibri"/>
              </a:rPr>
              <a:t>Two more TryHackMe rooms completed 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1088136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Windows Fundamentals 1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SOC Role in the Blue Team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Windows editions (Home vs Pro, BitLocker)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Security hierarchy and the CISO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Desktop GUI, taskbar, notification area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Red Team vs Blue Team vs GRC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The NTFS file system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The SOC and the CIRT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The Windows\System32 folder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Specialised defensive roles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User accounts, profiles, permissions and UAC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Advancing a SOC career - L1 to L2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Settings, Control Panel and Task Manager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Final challenge and answer key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8FB4D9"/>
                </a:solidFill>
                <a:latin typeface="Calibri"/>
              </a:rPr>
              <a:t>PART 3</a:t>
            </a:r>
          </a:p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175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5D3E6"/>
                </a:solidFill>
                <a:latin typeface="Calibri"/>
              </a:rPr>
              <a:t>A Windows lab, Event Viewer, and four Windows Security events captured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Lab Environment and Task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5D3E6"/>
                </a:solidFill>
                <a:latin typeface="Calibri"/>
              </a:rPr>
              <a:t>Building the lab and locating the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3949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A2B45"/>
                </a:solidFill>
                <a:latin typeface="Calibri"/>
              </a:rPr>
              <a:t>Lab build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VirtualBox used as the hypervisor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Windows 10 virtual machine created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Linux virtual machine created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Windows VM used for the event investigation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17320"/>
            <a:ext cx="5212080" cy="457200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6634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A2B45"/>
                </a:solidFill>
                <a:latin typeface="Calibri"/>
              </a:rPr>
              <a:t>The task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Open Event Viewer on the Windows VM, find these four Event IDs and capture a screenshot of each: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4624 - someone logged in successfully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4625 - someone failed to log in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4688 - a program was started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4720 - a new user account was created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Events Captured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5D3E6"/>
                </a:solidFill>
                <a:latin typeface="Calibri"/>
              </a:rPr>
              <a:t>All four events on host DESKTOP-QKP3UOG, 07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1088135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45920"/>
                <a:gridCol w="4937760"/>
                <a:gridCol w="2103119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Event ID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12:36:15 PM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4720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A user account was created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Audit Success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12:37:48 PM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4624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An account was successfully logged on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Audit Success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12:40:26 PM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4688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A new process has been created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Audit Success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12:40:44 PM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4625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An account failed to log on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22B38"/>
                          </a:solidFill>
                          <a:latin typeface="Calibri"/>
                        </a:rPr>
                        <a:t>Audit Failure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20624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A2B45"/>
                </a:solidFill>
                <a:latin typeface="Calibri"/>
              </a:rPr>
              <a:t>Why this matters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222B38"/>
                </a:solidFill>
                <a:latin typeface="Calibri"/>
              </a:rPr>
              <a:t>These four Event IDs form the core of Windows logon and account auditing. Together they show who created an account, whether a logon succeeded or failed, and what processes ran - the building blocks of SOC alert triage.</a:t>
            </a:r>
          </a:p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2F5D8A"/>
                </a:solidFill>
                <a:latin typeface="Calibri"/>
              </a:rPr>
              <a:t>All four occurred within a four-and-a-half minute window, so they can be correlated as a single activity chain.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Event 4720: A user account was created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5D3E6"/>
                </a:solidFill>
                <a:latin typeface="Calibri"/>
              </a:rPr>
              <a:t>10/07/2026 12:36:15 PM  |  User Account Management  |  Audit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22B38"/>
                </a:solidFill>
                <a:latin typeface="Calibri"/>
              </a:rPr>
              <a:t>A new local user account 'apura' was created by the SYSTEM account (logon ID 0x3E7) - the normal identity when account management is triggered programmatically.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017520"/>
          <a:ext cx="502920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108960"/>
              </a:tblGrid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New Account Name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apura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New Account SID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DESKTOP-QKP3UOG\apura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New Account Domain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WIN-JAA2UBRBPD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SAM Account Name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apura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Display Name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&lt;value not set&gt;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Subject Account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SYSTEM (Logon ID 0x3E7)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998464" y="1795711"/>
            <a:ext cx="5678424" cy="3220857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ent_4720_User_Account_Cre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32287"/>
            <a:ext cx="5605272" cy="314770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806440"/>
            <a:ext cx="11000232" cy="640080"/>
          </a:xfrm>
          <a:prstGeom prst="rect">
            <a:avLst/>
          </a:prstGeom>
          <a:solidFill>
            <a:srgbClr val="FFF6E5"/>
          </a:solidFill>
          <a:ln w="12700">
            <a:solidFill>
              <a:srgbClr val="E8D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897880"/>
            <a:ext cx="107259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B3F00"/>
                </a:solidFill>
                <a:latin typeface="Calibri"/>
              </a:rPr>
              <a:t>The account domain reads WIN-JAA2UBRBPD while the computer field is DESKTOP-QKP3UOG - the creation record carries the original computer name.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Event 4624: An account was successfully logged on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5D3E6"/>
                </a:solidFill>
                <a:latin typeface="Calibri"/>
              </a:rPr>
              <a:t>10/07/2026 12:37:48 PM  |  Logon  |  Audit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22B38"/>
                </a:solidFill>
                <a:latin typeface="Calibri"/>
              </a:rPr>
              <a:t>A successful logon was recorded about 90 seconds after the 'apura' account was created, indicating the new account was usable immediately.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017520"/>
          <a:ext cx="502920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108960"/>
              </a:tblGrid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Log Name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Task Category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Logon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Information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Keywords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Audit Success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Logged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10/07/2026 12:37:48 PM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Computer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DESKTOP-QKP3UOG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998464" y="1797600"/>
            <a:ext cx="5678424" cy="3217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ent_4624_Account_Successful_Log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34176"/>
            <a:ext cx="5605272" cy="314392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806440"/>
            <a:ext cx="11000232" cy="640080"/>
          </a:xfrm>
          <a:prstGeom prst="rect">
            <a:avLst/>
          </a:prstGeom>
          <a:solidFill>
            <a:srgbClr val="FFF6E5"/>
          </a:solidFill>
          <a:ln w="12700">
            <a:solidFill>
              <a:srgbClr val="E8D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897880"/>
            <a:ext cx="107259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B3F00"/>
                </a:solidFill>
                <a:latin typeface="Calibri"/>
              </a:rPr>
              <a:t>The General tab is collapsed, so the New Logon SID list is not visible - expand it for full attribution.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Event 4688: A new process has been created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5D3E6"/>
                </a:solidFill>
                <a:latin typeface="Calibri"/>
              </a:rPr>
              <a:t>10/07/2026 12:40:26 PM  |  Process Creation  |  Audit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22B38"/>
                </a:solidFill>
                <a:latin typeface="Calibri"/>
              </a:rPr>
              <a:t>Process creation auditing captured lsass.exe (the Local Security Authority Subsystem) - a normal Windows system process.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017520"/>
          <a:ext cx="502920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108960"/>
              </a:tblGrid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New Process Name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C:\Windows\System32\lsass.exe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New Process ID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0x280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Creator Subject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SYSTEM (Logon ID 0x3E7)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Target Subject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NULL SID (Logon ID 0x0)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Token Elevation Type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%%1936 (TokenElevationTypeFull)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Creator Process ID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0x1e8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998464" y="1804325"/>
            <a:ext cx="5678424" cy="320363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ent_4688_Process_Cre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40901"/>
            <a:ext cx="5605272" cy="313047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806440"/>
            <a:ext cx="11000232" cy="640080"/>
          </a:xfrm>
          <a:prstGeom prst="rect">
            <a:avLst/>
          </a:prstGeom>
          <a:solidFill>
            <a:srgbClr val="FFF6E5"/>
          </a:solidFill>
          <a:ln w="12700">
            <a:solidFill>
              <a:srgbClr val="E8D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897880"/>
            <a:ext cx="107259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B3F00"/>
                </a:solidFill>
                <a:latin typeface="Calibri"/>
              </a:rPr>
              <a:t>Command-line logging is not shown - enabling it would record the full argument string.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Event 4625: An account failed to log on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5D3E6"/>
                </a:solidFill>
                <a:latin typeface="Calibri"/>
              </a:rPr>
              <a:t>10/07/2026 12:40:44 PM  |  Logon  |  Audit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22B38"/>
                </a:solidFill>
                <a:latin typeface="Calibri"/>
              </a:rPr>
              <a:t>An interactive (Type 2) logon for 'apura' failed because the user name or password was incorrect. The account carries a NULL SID - authentication never succeeded.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017520"/>
          <a:ext cx="502920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108960"/>
              </a:tblGrid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Account Name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apura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Account Domain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DESKTOP-QKP3UOG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Logon Type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2 - Interactive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Account SID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NULL SID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Failure Reason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Unknown user name or bad password.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Status / Sub Status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22B38"/>
                          </a:solidFill>
                          <a:latin typeface="Calibri"/>
                        </a:rPr>
                        <a:t>0xC000006D / 0xC000006A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998464" y="1791184"/>
            <a:ext cx="5678424" cy="3229911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ent_4625_Account_Failed_Log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27760"/>
            <a:ext cx="5605272" cy="315675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806440"/>
            <a:ext cx="11000232" cy="640080"/>
          </a:xfrm>
          <a:prstGeom prst="rect">
            <a:avLst/>
          </a:prstGeom>
          <a:solidFill>
            <a:srgbClr val="FFF6E5"/>
          </a:solidFill>
          <a:ln w="12700">
            <a:solidFill>
              <a:srgbClr val="E8D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897880"/>
            <a:ext cx="107259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B3F00"/>
                </a:solidFill>
                <a:latin typeface="Calibri"/>
              </a:rPr>
              <a:t>Sub Status 0xC000006A means a bad password for an existing account (0xC0000064 would mean an unknown user name).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Correlation and Analysis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5D3E6"/>
                </a:solidFill>
                <a:latin typeface="Calibri"/>
              </a:rPr>
              <a:t>Turning four events into one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463040"/>
                <a:gridCol w="722376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Event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What happened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22B38"/>
                          </a:solidFill>
                          <a:latin typeface="Calibri"/>
                        </a:rPr>
                        <a:t>12:36:15 PM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22B38"/>
                          </a:solidFill>
                          <a:latin typeface="Calibri"/>
                        </a:rPr>
                        <a:t>4720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22B38"/>
                          </a:solidFill>
                          <a:latin typeface="Calibri"/>
                        </a:rPr>
                        <a:t>Account 'apura' created by SYSTEM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22B38"/>
                          </a:solidFill>
                          <a:latin typeface="Calibri"/>
                        </a:rPr>
                        <a:t>12:37:48 PM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22B38"/>
                          </a:solidFill>
                          <a:latin typeface="Calibri"/>
                        </a:rPr>
                        <a:t>4624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22B38"/>
                          </a:solidFill>
                          <a:latin typeface="Calibri"/>
                        </a:rPr>
                        <a:t>Successful logon - the new account worked about 90s later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22B38"/>
                          </a:solidFill>
                          <a:latin typeface="Calibri"/>
                        </a:rPr>
                        <a:t>12:40:26 PM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22B38"/>
                          </a:solidFill>
                          <a:latin typeface="Calibri"/>
                        </a:rPr>
                        <a:t>4688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22B38"/>
                          </a:solidFill>
                          <a:latin typeface="Calibri"/>
                        </a:rPr>
                        <a:t>lsass.exe created - normal system process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22B38"/>
                          </a:solidFill>
                          <a:latin typeface="Calibri"/>
                        </a:rPr>
                        <a:t>12:40:44 PM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22B38"/>
                          </a:solidFill>
                          <a:latin typeface="Calibri"/>
                        </a:rPr>
                        <a:t>4625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22B38"/>
                          </a:solidFill>
                          <a:latin typeface="Calibri"/>
                        </a:rPr>
                        <a:t>Interactive logon for 'apura' failed - wrong password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931920"/>
            <a:ext cx="108813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A2B45"/>
                </a:solidFill>
                <a:latin typeface="Calibri"/>
              </a:rPr>
              <a:t>Analysis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Only one of the four events is a failure - Event 4625.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Sub Status 0xC000006A means the account existed but the password was wrong (0xC0000064 would mean an unknown user name).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The sequence matches normal account provisioning and testing, not malicious activity.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•  In a production environment the single wrong-password failure would be worth a follow-up, and repeated failures would warrant a lockout or brute-force investigation.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Key Takeaways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5D3E6"/>
                </a:solidFill>
                <a:latin typeface="Calibri"/>
              </a:rPr>
              <a:t>What Week 1 established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500" b="0" i="0">
                <a:solidFill>
                  <a:srgbClr val="222B38"/>
                </a:solidFill>
                <a:latin typeface="Calibri"/>
              </a:rPr>
              <a:t>•  A SOC is people, process and technology working together to monitor, detect and respond.</a:t>
            </a:r>
          </a:p>
          <a:p>
            <a:pPr algn="l">
              <a:spcAft>
                <a:spcPts val="1300"/>
              </a:spcAft>
            </a:pPr>
            <a:r>
              <a:rPr sz="1500" b="0" i="0">
                <a:solidFill>
                  <a:srgbClr val="222B38"/>
                </a:solidFill>
                <a:latin typeface="Calibri"/>
              </a:rPr>
              <a:t>•  The L1/L2/L3 model shows how triage escalates into deeper investigation and detection engineering.</a:t>
            </a:r>
          </a:p>
          <a:p>
            <a:pPr algn="l">
              <a:spcAft>
                <a:spcPts val="1300"/>
              </a:spcAft>
            </a:pPr>
            <a:r>
              <a:rPr sz="1500" b="0" i="0">
                <a:solidFill>
                  <a:srgbClr val="222B38"/>
                </a:solidFill>
                <a:latin typeface="Calibri"/>
              </a:rPr>
              <a:t>•  The CIA Triad is the lens for judging the impact of any incident.</a:t>
            </a:r>
          </a:p>
          <a:p>
            <a:pPr algn="l">
              <a:spcAft>
                <a:spcPts val="1300"/>
              </a:spcAft>
            </a:pPr>
            <a:r>
              <a:rPr sz="1500" b="0" i="0">
                <a:solidFill>
                  <a:srgbClr val="222B38"/>
                </a:solidFill>
                <a:latin typeface="Calibri"/>
              </a:rPr>
              <a:t>•  Network models (OSI and TCP/IP) underpin how attackers and defenders see traffic.</a:t>
            </a:r>
          </a:p>
          <a:p>
            <a:pPr algn="l">
              <a:spcAft>
                <a:spcPts val="1300"/>
              </a:spcAft>
            </a:pPr>
            <a:r>
              <a:rPr sz="1500" b="0" i="0">
                <a:solidFill>
                  <a:srgbClr val="222B38"/>
                </a:solidFill>
                <a:latin typeface="Calibri"/>
              </a:rPr>
              <a:t>•  Phishing and malware remain the most common entry points - and the most preventable.</a:t>
            </a:r>
          </a:p>
          <a:p>
            <a:pPr algn="l">
              <a:spcAft>
                <a:spcPts val="1300"/>
              </a:spcAft>
            </a:pPr>
            <a:r>
              <a:rPr sz="1500" b="0" i="0">
                <a:solidFill>
                  <a:srgbClr val="222B38"/>
                </a:solidFill>
                <a:latin typeface="Calibri"/>
              </a:rPr>
              <a:t>•  Windows Event Viewer is the starting point for endpoint investigation on Windows hosts.</a:t>
            </a:r>
          </a:p>
          <a:p>
            <a:pPr algn="l">
              <a:spcAft>
                <a:spcPts val="1300"/>
              </a:spcAft>
            </a:pPr>
            <a:r>
              <a:rPr sz="1500" b="0" i="0">
                <a:solidFill>
                  <a:srgbClr val="222B38"/>
                </a:solidFill>
                <a:latin typeface="Calibri"/>
              </a:rPr>
              <a:t>•  Event IDs 4624, 4625, 4688 and 4720 answer who logged in, who failed, what ran, and who was created.</a:t>
            </a:r>
          </a:p>
          <a:p>
            <a:pPr algn="l">
              <a:spcAft>
                <a:spcPts val="1300"/>
              </a:spcAft>
            </a:pPr>
            <a:r>
              <a:rPr sz="1500" b="0" i="0">
                <a:solidFill>
                  <a:srgbClr val="222B38"/>
                </a:solidFill>
                <a:latin typeface="Calibri"/>
              </a:rPr>
              <a:t>•  Correlating events by time and host turns isolated log entries into a defensible narrative.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Deliverables and LinkedIn Activity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5D3E6"/>
                </a:solidFill>
                <a:latin typeface="Calibri"/>
              </a:rPr>
              <a:t>Everything produced in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DG Interns Hub  |  Week 1 - The Basics: Security and the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A8696"/>
                </a:solidFill>
                <a:latin typeface="Calibri"/>
              </a:rPr>
              <a:t>29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6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577840"/>
                <a:gridCol w="210312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Deliverable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54864" anchor="ctr">
                    <a:solidFill>
                      <a:srgbClr val="1A2B4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Notes folder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6 documents (19 pages)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Writeups folder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6 documents (75 pages)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Findings folder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4 Event Viewer screenshots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PDF report of weekly work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Week 1 Report - Weekly Work.pdf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Presentation report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Week 1 Presentation - Weekly Work.pptx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Readme file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README.md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LinkedIn post 1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What a SOC analyst does daily (5 points)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Drafted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LinkedIn post 2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Week 1 experience, tagging DG Interns Hub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22B38"/>
                          </a:solidFill>
                          <a:latin typeface="Calibri"/>
                        </a:rPr>
                        <a:t>Drafted</a:t>
                      </a:r>
                    </a:p>
                  </a:txBody>
                  <a:tcPr marL="73152" marR="54864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2120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22B38"/>
                </a:solidFill>
                <a:latin typeface="Calibri"/>
              </a:rPr>
              <a:t>LinkedIn post text is provided in 'LinkedIn Posts.md' and is ready to publish.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49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C5D3E6"/>
                </a:solidFill>
                <a:latin typeface="Calibri"/>
              </a:rPr>
              <a:t>Week 1 - The Basics: Security and the SOC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FB4D9"/>
                </a:solidFill>
                <a:latin typeface="Calibri"/>
              </a:rPr>
              <a:t>DG Interns Hub  |  SOC Analyst Internship  |  07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